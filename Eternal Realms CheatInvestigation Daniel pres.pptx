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4"/>
  </p:sldMasterIdLst>
  <p:notesMasterIdLst>
    <p:notesMasterId r:id="rId24"/>
  </p:notes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71" r:id="rId12"/>
    <p:sldId id="275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2" r:id="rId21"/>
    <p:sldId id="273" r:id="rId22"/>
    <p:sldId id="274" r:id="rId23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31" autoAdjust="0"/>
    <p:restoredTop sz="89935" autoAdjust="0"/>
  </p:normalViewPr>
  <p:slideViewPr>
    <p:cSldViewPr snapToGrid="0" snapToObjects="1">
      <p:cViewPr varScale="1">
        <p:scale>
          <a:sx n="74" d="100"/>
          <a:sy n="74" d="100"/>
        </p:scale>
        <p:origin x="84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dera Daniel Chidi" userId="8ca6731a-bb58-4492-a047-cd7e1224170c" providerId="ADAL" clId="{9D629CA2-FFC3-455E-8AFD-FA2A5480BA22}"/>
    <pc:docChg chg="modSld">
      <pc:chgData name="Chidera Daniel Chidi" userId="8ca6731a-bb58-4492-a047-cd7e1224170c" providerId="ADAL" clId="{9D629CA2-FFC3-455E-8AFD-FA2A5480BA22}" dt="2026-10-06T18:42:11.758" v="0"/>
      <pc:docMkLst>
        <pc:docMk/>
      </pc:docMkLst>
      <pc:sldChg chg="delSp">
        <pc:chgData name="Chidera Daniel Chidi" userId="8ca6731a-bb58-4492-a047-cd7e1224170c" providerId="ADAL" clId="{9D629CA2-FFC3-455E-8AFD-FA2A5480BA22}" dt="2026-10-06T18:42:11.758" v="0"/>
        <pc:sldMkLst>
          <pc:docMk/>
          <pc:sldMk cId="1618072645" sldId="258"/>
        </pc:sldMkLst>
        <pc:spChg chg="del">
          <ac:chgData name="Chidera Daniel Chidi" userId="8ca6731a-bb58-4492-a047-cd7e1224170c" providerId="ADAL" clId="{9D629CA2-FFC3-455E-8AFD-FA2A5480BA22}" dt="2026-10-06T18:42:11.758" v="0"/>
          <ac:spMkLst>
            <pc:docMk/>
            <pc:sldMk cId="1618072645" sldId="258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4927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Introducing myself in one sentence. Then: </a:t>
            </a:r>
            <a:r>
              <a:rPr lang="en-US" dirty="0" err="1"/>
              <a:t>Duskmire</a:t>
            </a:r>
            <a:r>
              <a:rPr lang="en-US" dirty="0"/>
              <a:t> asked for three things: a data platform built from their beta snapshot, proof that it supports their reports, and an answer to who cheated and how. I'll walk through how I handled the data, what I found, and then show it running live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Keep this to 20 seconds: background in business and operations, now data analytics. The point to land: I care about turning messy operational data into decisions.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whole talk: platform, reports, cheaters. Then the principle that drove every decision: the rulebook decides, so I first had to prove the data was trustworthy.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whole story in one slide. If time is short, this slide plus the demo covers the brief.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reruns from the snapshot with three commands. Row counts are reconciled at ingestion, so nothing downstream is built on a partial copy.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Lead with DQ-2: lost events are listed explicitly so a missing message can never be read as a cheat. DQ-3 gets its own slide next.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Without this fix, honest endgame players would have looked like speed hackers. This is why the data had to be proven before any accusation.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I </a:t>
            </a:r>
            <a:r>
              <a:rPr dirty="0"/>
              <a:t>Show</a:t>
            </a:r>
            <a:r>
              <a:rPr lang="en-CA" dirty="0"/>
              <a:t>ed</a:t>
            </a:r>
            <a:r>
              <a:rPr dirty="0"/>
              <a:t> one star rather than all 16 tables: the encounter fact and the four shared dimensions it joins to. Every report filters through the same dimensions, which is what makes the peer comparisons consistent.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Overview page of the Power BI report, built on the same star schema. Unique players is the distinct count across the whole window; the line shows daily actives. The last, partial day is filtered out.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Chart from the Power BI Cheaters page. Equip stacking and burst damage are 98% of all violations. Eight rules found nothing, which matters: the checks are not trigger-happy.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Chart from Power BI: every cheater used burst damage and equip stacking; chr_1786 alone added item duplication, the speed hack and gear above level.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headline exploit. The server limits ability uses but accepts any number of hits at once.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item, four recipients in about a minute. The game never checked that the giver still owned the sword.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escalation: gear above level, then equip stacking, the speed hack, the first burst kill, duplication, the boss kills, then the PvP spree and exit.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Ordered by damage </a:t>
            </a:r>
            <a:r>
              <a:rPr lang="en-CA" dirty="0"/>
              <a:t>done</a:t>
            </a:r>
            <a:r>
              <a:rPr dirty="0"/>
              <a:t> burst damage killed players and the final boss, so it comes first.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Both charts are from Power BI. The donut has no boss slice because bosses killed nobody. The gold-destroyed line sits on zero while gold created runs at millions a day.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Have the warehouse already built. Run run_reports.py, open the lineage query for violation 23, </a:t>
            </a:r>
            <a:r>
              <a:rPr lang="en-CA" dirty="0"/>
              <a:t>then I switched to Power Bi</a:t>
            </a: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Diagram is in docs</a:t>
            </a:r>
            <a:r>
              <a:rPr lang="en-CA" dirty="0"/>
              <a:t> </a:t>
            </a:r>
            <a:r>
              <a:rPr dirty="0"/>
              <a:t>aws-architecture.md. Streaming matters only for burst damage, where minutes of delay mean more dead players.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9267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4653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47970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4394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96014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75256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1694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29162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3123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97052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20970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036347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34523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59695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3064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2134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6107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2472690"/>
            <a:ext cx="10566400" cy="90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0000"/>
              </a:lnSpc>
              <a:buNone/>
              <a:defRPr lang="en-US" sz="6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buNone/>
            </a:pPr>
            <a:endParaRPr lang="en-US" sz="6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3684270"/>
            <a:ext cx="10566400" cy="236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967011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7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5354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  <p:sldLayoutId id="2147483752" r:id="rId18"/>
    <p:sldLayoutId id="2147483753" r:id="rId19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0A33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812800" y="193421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kern="0" spc="200" dirty="0">
                <a:solidFill>
                  <a:srgbClr val="E0A33A"/>
                </a:solidFill>
                <a:latin typeface="Aptos Serif" panose="02020604070405020304" pitchFamily="18" charset="0"/>
                <a:ea typeface="Arial" pitchFamily="34" charset="-122"/>
                <a:cs typeface="Aptos Serif" panose="02020604070405020304" pitchFamily="18" charset="0"/>
              </a:rPr>
              <a:t>SENIOR DATA ENGINEER CHALLENGE · DUSKMIRE STUDIOS</a:t>
            </a:r>
            <a:endParaRPr lang="en-US" sz="1600" dirty="0"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472690"/>
            <a:ext cx="10883392" cy="93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140"/>
              </a:lnSpc>
              <a:buNone/>
            </a:pPr>
            <a:r>
              <a:rPr lang="en-US" sz="6800" b="1" i="0" dirty="0">
                <a:solidFill>
                  <a:srgbClr val="F4F1EA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ETERNAL REALMS</a:t>
            </a:r>
            <a:endParaRPr lang="en-US" sz="6800" dirty="0"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363347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CFD6DF"/>
                </a:solidFill>
                <a:latin typeface="Aptos Serif" panose="02020604070405020304" pitchFamily="18" charset="0"/>
                <a:ea typeface="Arial" pitchFamily="34" charset="-122"/>
                <a:cs typeface="Aptos Serif" panose="02020604070405020304" pitchFamily="18" charset="0"/>
              </a:rPr>
              <a:t>Data platform and cheat investigation</a:t>
            </a:r>
            <a:endParaRPr lang="en-US" sz="3200" dirty="0"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" y="4354830"/>
            <a:ext cx="85026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AEB7C2"/>
                </a:solidFill>
                <a:latin typeface="Aptos Serif" panose="020B0502040204020203" pitchFamily="18" charset="0"/>
                <a:ea typeface="Arial" pitchFamily="34" charset="-122"/>
                <a:cs typeface="Aptos Serif" panose="020B0502040204020203" pitchFamily="18" charset="0"/>
              </a:rPr>
              <a:t>9.65 million game events, 7 data problems fixed, 13 cheat rules, 5 cheaters caught, every finding traced back to its source events.</a:t>
            </a:r>
            <a:endParaRPr lang="en-US" sz="1600" dirty="0">
              <a:latin typeface="Aptos Serif" panose="020B0502040204020203" pitchFamily="18" charset="0"/>
              <a:cs typeface="Aptos Serif" panose="020B05020402040202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12800" y="6202680"/>
            <a:ext cx="32256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Chidi ·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6D3CE1E3-9716-4105-B870-C2858FF12A9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15000" r="15000"/>
          <a:stretch>
            <a:fillRect/>
          </a:stretch>
        </p:blipFill>
        <p:spPr>
          <a:xfrm>
            <a:off x="685800" y="914400"/>
            <a:ext cx="3291840" cy="470916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4434840" y="91440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E0A33A"/>
                </a:solidFill>
                <a:latin typeface="Arial"/>
              </a:rPr>
              <a:t>ABOUT 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234440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4F1EA"/>
                </a:solidFill>
                <a:latin typeface="Arial"/>
              </a:rPr>
              <a:t>Daniel Chidi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874519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E0A33A"/>
                </a:solidFill>
                <a:latin typeface="Arial"/>
              </a:rPr>
              <a:t>Data analyst · Calgary, 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51460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4F1EA"/>
                </a:solidFill>
                <a:latin typeface="Arial"/>
              </a:rPr>
              <a:t>Education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514600"/>
            <a:ext cx="55778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CFD6DF"/>
                </a:solidFill>
                <a:latin typeface="Arial"/>
              </a:rPr>
              <a:t>Data Analytics post-diploma certificate</a:t>
            </a:r>
            <a:r>
              <a:rPr lang="en-CA" sz="1400" dirty="0">
                <a:solidFill>
                  <a:srgbClr val="CFD6DF"/>
                </a:solidFill>
                <a:latin typeface="Arial"/>
              </a:rPr>
              <a:t>,</a:t>
            </a:r>
            <a:r>
              <a:rPr sz="1400" b="0" i="0" dirty="0">
                <a:solidFill>
                  <a:srgbClr val="CFD6DF"/>
                </a:solidFill>
                <a:latin typeface="Arial"/>
              </a:rPr>
              <a:t>SAIT · Business Administration  Management diploma, SAIT (2026)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264408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4F1EA"/>
                </a:solidFill>
                <a:latin typeface="Arial"/>
              </a:rPr>
              <a:t>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3264408"/>
            <a:ext cx="557784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CFD6DF"/>
                </a:solidFill>
                <a:latin typeface="Arial"/>
              </a:rPr>
              <a:t>6+ years </a:t>
            </a:r>
            <a:r>
              <a:rPr lang="en-CA" sz="1400" b="0" i="0" dirty="0">
                <a:solidFill>
                  <a:srgbClr val="CFD6DF"/>
                </a:solidFill>
                <a:latin typeface="Arial"/>
              </a:rPr>
              <a:t>of experience supporting </a:t>
            </a:r>
            <a:r>
              <a:rPr lang="en-CA" sz="1400" b="0" i="0" dirty="0" err="1">
                <a:solidFill>
                  <a:srgbClr val="CFD6DF"/>
                </a:solidFill>
                <a:latin typeface="Arial"/>
              </a:rPr>
              <a:t>telecom,bro</a:t>
            </a:r>
            <a:r>
              <a:rPr lang="en-CA" sz="1400" dirty="0" err="1">
                <a:solidFill>
                  <a:srgbClr val="CFD6DF"/>
                </a:solidFill>
                <a:latin typeface="Arial"/>
              </a:rPr>
              <a:t>adband,customer</a:t>
            </a:r>
            <a:r>
              <a:rPr lang="en-CA" sz="1400" dirty="0">
                <a:solidFill>
                  <a:srgbClr val="CFD6DF"/>
                </a:solidFill>
                <a:latin typeface="Arial"/>
              </a:rPr>
              <a:t> </a:t>
            </a:r>
            <a:r>
              <a:rPr lang="en-CA" sz="1400" dirty="0" err="1">
                <a:solidFill>
                  <a:srgbClr val="CFD6DF"/>
                </a:solidFill>
                <a:latin typeface="Arial"/>
              </a:rPr>
              <a:t>snslytics</a:t>
            </a:r>
            <a:r>
              <a:rPr lang="en-CA" sz="1400" dirty="0">
                <a:solidFill>
                  <a:srgbClr val="CFD6DF"/>
                </a:solidFill>
                <a:latin typeface="Arial"/>
              </a:rPr>
              <a:t>, operational reporting and business intelligence initiatives, skilled in Python, </a:t>
            </a:r>
            <a:r>
              <a:rPr lang="en-CA" sz="1400" dirty="0" err="1">
                <a:solidFill>
                  <a:srgbClr val="CFD6DF"/>
                </a:solidFill>
                <a:latin typeface="Arial"/>
              </a:rPr>
              <a:t>SQL,Excel</a:t>
            </a:r>
            <a:r>
              <a:rPr lang="en-CA" sz="1400" dirty="0">
                <a:solidFill>
                  <a:srgbClr val="CFD6DF"/>
                </a:solidFill>
                <a:latin typeface="Arial"/>
              </a:rPr>
              <a:t>, Power BI , Microsoft fabric, data cleaning, exploratory analysis.</a:t>
            </a:r>
            <a:endParaRPr sz="1400" b="0" i="0" dirty="0">
              <a:solidFill>
                <a:srgbClr val="CFD6DF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34840" y="4764024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4F1EA"/>
                </a:solidFill>
                <a:latin typeface="Arial"/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4764024"/>
            <a:ext cx="55778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CFD6DF"/>
                </a:solidFill>
                <a:latin typeface="Arial"/>
              </a:rPr>
              <a:t>SQL, Python, R, Excel </a:t>
            </a:r>
            <a:r>
              <a:rPr lang="en-CA" sz="1400" dirty="0">
                <a:solidFill>
                  <a:srgbClr val="CFD6DF"/>
                </a:solidFill>
                <a:latin typeface="Arial"/>
              </a:rPr>
              <a:t>,</a:t>
            </a:r>
            <a:r>
              <a:rPr sz="1400" b="0" i="0" dirty="0">
                <a:solidFill>
                  <a:srgbClr val="CFD6DF"/>
                </a:solidFill>
                <a:latin typeface="Arial"/>
              </a:rPr>
              <a:t>Power BI</a:t>
            </a:r>
            <a:r>
              <a:rPr lang="en-CA" sz="1400" b="0" i="0" dirty="0">
                <a:solidFill>
                  <a:srgbClr val="CFD6DF"/>
                </a:solidFill>
                <a:latin typeface="Arial"/>
              </a:rPr>
              <a:t>,Kafka, snowflake, </a:t>
            </a:r>
            <a:r>
              <a:rPr lang="en-CA" sz="1400" b="0" i="0" dirty="0" err="1">
                <a:solidFill>
                  <a:srgbClr val="CFD6DF"/>
                </a:solidFill>
                <a:latin typeface="Arial"/>
              </a:rPr>
              <a:t>spark</a:t>
            </a:r>
            <a:r>
              <a:rPr lang="en-CA" sz="1400" dirty="0" err="1">
                <a:solidFill>
                  <a:srgbClr val="CFD6DF"/>
                </a:solidFill>
                <a:latin typeface="Arial"/>
              </a:rPr>
              <a:t>,Fabric</a:t>
            </a:r>
            <a:endParaRPr sz="1400" b="0" i="0" dirty="0">
              <a:solidFill>
                <a:srgbClr val="CFD6DF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34840" y="5605272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4F1EA"/>
                </a:solidFill>
                <a:latin typeface="Arial"/>
              </a:rPr>
              <a:t>Portfolio: </a:t>
            </a:r>
            <a:r>
              <a:rPr sz="1400" b="0" i="0">
                <a:solidFill>
                  <a:srgbClr val="E0A33A"/>
                </a:solidFill>
                <a:latin typeface="Arial"/>
              </a:rPr>
              <a:t>github.com/Danny2056</a:t>
            </a:r>
          </a:p>
        </p:txBody>
      </p:sp>
    </p:spTree>
    <p:extLst>
      <p:ext uri="{BB962C8B-B14F-4D97-AF65-F5344CB8AC3E}">
        <p14:creationId xmlns:p14="http://schemas.microsoft.com/office/powerpoint/2010/main" val="1618072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502920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E0A33A"/>
                </a:solidFill>
                <a:latin typeface="Arial"/>
              </a:rPr>
              <a:t>THE BRIEF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822960"/>
            <a:ext cx="9418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4F1EA"/>
                </a:solidFill>
                <a:latin typeface="Arial"/>
              </a:rPr>
              <a:t>Three things Duskmire asked for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3429000" cy="2331720"/>
          </a:xfrm>
          <a:prstGeom prst="roundRect">
            <a:avLst>
              <a:gd name="adj" fmla="val 6000"/>
            </a:avLst>
          </a:prstGeom>
          <a:solidFill>
            <a:srgbClr val="0B1F2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46888" rIns="274320" bIns="246888" rtlCol="0" anchor="t"/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E0A33A"/>
                </a:solidFill>
                <a:latin typeface="Arial"/>
              </a:rPr>
              <a:t>01</a:t>
            </a:r>
          </a:p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4F1EA"/>
                </a:solidFill>
                <a:latin typeface="Arial"/>
              </a:rPr>
              <a:t>A data platform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CFD6DF"/>
                </a:solidFill>
                <a:latin typeface="Arial"/>
              </a:rPr>
              <a:t>Ingest the read-only snapshot into our own stack and model it for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9976" y="1920240"/>
            <a:ext cx="3429000" cy="2331720"/>
          </a:xfrm>
          <a:prstGeom prst="roundRect">
            <a:avLst>
              <a:gd name="adj" fmla="val 6000"/>
            </a:avLst>
          </a:prstGeom>
          <a:solidFill>
            <a:srgbClr val="0B1F2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46888" rIns="274320" bIns="246888" rtlCol="0" anchor="t"/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E0A33A"/>
                </a:solidFill>
                <a:latin typeface="Arial"/>
              </a:rPr>
              <a:t>02</a:t>
            </a:r>
          </a:p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4F1EA"/>
                </a:solidFill>
                <a:latin typeface="Arial"/>
              </a:rPr>
              <a:t>Report-ready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CFD6DF"/>
                </a:solidFill>
                <a:latin typeface="Arial"/>
              </a:rPr>
              <a:t>Prove the model supports every player and economy report in the brief, with peer percentiles.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74152" y="1920240"/>
            <a:ext cx="3429000" cy="2331720"/>
          </a:xfrm>
          <a:prstGeom prst="roundRect">
            <a:avLst>
              <a:gd name="adj" fmla="val 6000"/>
            </a:avLst>
          </a:prstGeom>
          <a:solidFill>
            <a:srgbClr val="0B1F2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46888" rIns="274320" bIns="246888" rtlCol="0" anchor="t"/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E0A33A"/>
                </a:solidFill>
                <a:latin typeface="Arial"/>
              </a:rPr>
              <a:t>03</a:t>
            </a:r>
          </a:p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4F1EA"/>
                </a:solidFill>
                <a:latin typeface="Arial"/>
              </a:rPr>
              <a:t>Who cheated?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CFD6DF"/>
                </a:solidFill>
                <a:latin typeface="Arial"/>
              </a:rPr>
              <a:t>Which accounts, which cheats, and why each counts as cheating, with lineage to source events.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66344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4F1EA"/>
                </a:solidFill>
                <a:latin typeface="Arial"/>
              </a:rPr>
              <a:t>The rulebook is the authority. </a:t>
            </a:r>
            <a:r>
              <a:rPr sz="1600" b="0" i="1">
                <a:solidFill>
                  <a:srgbClr val="CFD6DF"/>
                </a:solidFill>
                <a:latin typeface="Arial"/>
              </a:rPr>
              <a:t>When the data disagrees with it, either the data is wrong or someone broke the game.</a:t>
            </a:r>
          </a:p>
        </p:txBody>
      </p:sp>
    </p:spTree>
    <p:extLst>
      <p:ext uri="{BB962C8B-B14F-4D97-AF65-F5344CB8AC3E}">
        <p14:creationId xmlns:p14="http://schemas.microsoft.com/office/powerpoint/2010/main" val="3518334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502920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E0A33A"/>
                </a:solidFill>
                <a:latin typeface="Arial"/>
              </a:rPr>
              <a:t>AT A GLANCE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822960"/>
            <a:ext cx="9418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4F1EA"/>
                </a:solidFill>
                <a:latin typeface="Arial"/>
              </a:rPr>
              <a:t>Prove the data first, then let the rulebook decide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2514600" cy="3657600"/>
          </a:xfrm>
          <a:prstGeom prst="roundRect">
            <a:avLst>
              <a:gd name="adj" fmla="val 6000"/>
            </a:avLst>
          </a:prstGeom>
          <a:solidFill>
            <a:srgbClr val="1E5155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1051" rIns="201168" bIns="181051" rtlCol="0" anchor="t"/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E0A33A"/>
                </a:solidFill>
                <a:latin typeface="Arial"/>
              </a:rPr>
              <a:t>1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F4F1EA"/>
                </a:solidFill>
                <a:latin typeface="Arial"/>
              </a:rPr>
              <a:t>Process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6DF"/>
                </a:solidFill>
                <a:latin typeface="Arial"/>
              </a:rPr>
              <a:t>Copied 9.65 million events and reconciled them, cleaned the data, turned the rulebook into 13 automatic checks and built a star schema for every report.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3688" y="1874519"/>
            <a:ext cx="2514600" cy="3657600"/>
          </a:xfrm>
          <a:prstGeom prst="roundRect">
            <a:avLst>
              <a:gd name="adj" fmla="val 6000"/>
            </a:avLst>
          </a:prstGeom>
          <a:solidFill>
            <a:srgbClr val="1E5155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1051" rIns="201168" bIns="181051" rtlCol="0" anchor="t"/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E0A33A"/>
                </a:solidFill>
                <a:latin typeface="Arial"/>
              </a:rPr>
              <a:t>2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F4F1EA"/>
                </a:solidFill>
                <a:latin typeface="Arial"/>
              </a:rPr>
              <a:t>Data problems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6DF"/>
                </a:solidFill>
                <a:latin typeface="Arial"/>
              </a:rPr>
              <a:t>7 found and fixed: 47,733 duplicates, 9,615 lost events, one server clock 5 hours behind (927,920 events), plus missing fields, fake IDs and scrambled numbers.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1577" y="1874519"/>
            <a:ext cx="2514600" cy="3657600"/>
          </a:xfrm>
          <a:prstGeom prst="roundRect">
            <a:avLst>
              <a:gd name="adj" fmla="val 6000"/>
            </a:avLst>
          </a:prstGeom>
          <a:solidFill>
            <a:srgbClr val="1E5155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1051" rIns="201168" bIns="181051" rtlCol="0" anchor="t"/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E0A33A"/>
                </a:solidFill>
                <a:latin typeface="Arial"/>
              </a:rPr>
              <a:t>3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F4F1EA"/>
                </a:solidFill>
                <a:latin typeface="Arial"/>
              </a:rPr>
              <a:t>Cheaters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6DF"/>
                </a:solidFill>
                <a:latin typeface="Arial"/>
              </a:rPr>
              <a:t>5 coordinated accounts, nobody else. Burst damage killed the final boss in 13 s (honest best: 176 s) and 18 players, plus item duplication, equip stacking, a speed hack and gear above level.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89466" y="1874519"/>
            <a:ext cx="2514600" cy="3657600"/>
          </a:xfrm>
          <a:prstGeom prst="roundRect">
            <a:avLst>
              <a:gd name="adj" fmla="val 6000"/>
            </a:avLst>
          </a:prstGeom>
          <a:solidFill>
            <a:srgbClr val="1E5155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1051" rIns="201168" bIns="181051" rtlCol="0" anchor="t"/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E0A33A"/>
                </a:solidFill>
                <a:latin typeface="Arial"/>
              </a:rPr>
              <a:t>4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F4F1EA"/>
                </a:solidFill>
                <a:latin typeface="Arial"/>
              </a:rPr>
              <a:t>Fix and watch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6DF"/>
                </a:solidFill>
                <a:latin typeface="Arial"/>
              </a:rPr>
              <a:t>Patch damage rate, trade ownership, equip slots and movement. Watch two anomalies: no deaths in 8,137 boss fights, and 99.9% of new gold never leaves.</a:t>
            </a:r>
          </a:p>
        </p:txBody>
      </p:sp>
    </p:spTree>
    <p:extLst>
      <p:ext uri="{BB962C8B-B14F-4D97-AF65-F5344CB8AC3E}">
        <p14:creationId xmlns:p14="http://schemas.microsoft.com/office/powerpoint/2010/main" val="387869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502920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E0A33A"/>
                </a:solidFill>
                <a:latin typeface="Arial"/>
              </a:rPr>
              <a:t>THE PLATFORM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822960"/>
            <a:ext cx="9418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4F1EA"/>
                </a:solidFill>
                <a:latin typeface="Arial"/>
              </a:rPr>
              <a:t>One pipeline, rebuilt from scratch on a laptop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2331720" cy="1600200"/>
          </a:xfrm>
          <a:prstGeom prst="roundRect">
            <a:avLst>
              <a:gd name="adj" fmla="val 6000"/>
            </a:avLst>
          </a:prstGeom>
          <a:solidFill>
            <a:srgbClr val="0B1F23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t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4F1EA"/>
                </a:solidFill>
                <a:latin typeface="Arial"/>
              </a:rPr>
              <a:t>Snapshot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FD6DF"/>
                </a:solidFill>
                <a:latin typeface="Arial"/>
              </a:rPr>
              <a:t>Postgres in Docker, read only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72384" y="2578608"/>
            <a:ext cx="393192" cy="274320"/>
          </a:xfrm>
          <a:prstGeom prst="rightArrow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20439" y="1920240"/>
            <a:ext cx="2331720" cy="1600200"/>
          </a:xfrm>
          <a:prstGeom prst="roundRect">
            <a:avLst>
              <a:gd name="adj" fmla="val 6000"/>
            </a:avLst>
          </a:prstGeom>
          <a:solidFill>
            <a:srgbClr val="0B1F23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t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4F1EA"/>
                </a:solidFill>
                <a:latin typeface="Arial"/>
              </a:rPr>
              <a:t>Raw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FD6DF"/>
                </a:solidFill>
                <a:latin typeface="Arial"/>
              </a:rPr>
              <a:t>Parquet, exact copy, row counts reconciled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07023" y="2578608"/>
            <a:ext cx="393192" cy="274320"/>
          </a:xfrm>
          <a:prstGeom prst="rightArrow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55079" y="1920240"/>
            <a:ext cx="2331720" cy="1600200"/>
          </a:xfrm>
          <a:prstGeom prst="roundRect">
            <a:avLst>
              <a:gd name="adj" fmla="val 6000"/>
            </a:avLst>
          </a:prstGeom>
          <a:solidFill>
            <a:srgbClr val="0B1F23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t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4F1EA"/>
                </a:solidFill>
                <a:latin typeface="Arial"/>
              </a:rPr>
              <a:t>Staging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FD6DF"/>
                </a:solidFill>
                <a:latin typeface="Arial"/>
              </a:rPr>
              <a:t>Deduplicated, clock fixed, values repaired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41664" y="2578608"/>
            <a:ext cx="393192" cy="274320"/>
          </a:xfrm>
          <a:prstGeom prst="rightArrow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89719" y="1920240"/>
            <a:ext cx="2331720" cy="1600200"/>
          </a:xfrm>
          <a:prstGeom prst="roundRect">
            <a:avLst>
              <a:gd name="adj" fmla="val 6000"/>
            </a:avLst>
          </a:prstGeom>
          <a:solidFill>
            <a:srgbClr val="0B1F23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t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4F1EA"/>
                </a:solidFill>
                <a:latin typeface="Arial"/>
              </a:rPr>
              <a:t>Warehouse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FD6DF"/>
                </a:solidFill>
                <a:latin typeface="Arial"/>
              </a:rPr>
              <a:t>Data quality, cheat rules, star schema in DuckDB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69080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E0A33A"/>
                </a:solidFill>
                <a:latin typeface="Arial"/>
              </a:rPr>
              <a:t>9,650,208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84632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CFD6DF"/>
                </a:solidFill>
                <a:latin typeface="Arial"/>
              </a:rPr>
              <a:t>events ingested and reconciled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9976" y="4069080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E0A33A"/>
                </a:solidFill>
                <a:latin typeface="Arial"/>
              </a:rPr>
              <a:t>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484632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CFD6DF"/>
                </a:solidFill>
                <a:latin typeface="Arial"/>
              </a:rPr>
              <a:t>SQL models, one table 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4152" y="4069080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E0A33A"/>
                </a:solidFill>
                <a:latin typeface="Arial"/>
              </a:rPr>
              <a:t>~15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152" y="484632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CFD6DF"/>
                </a:solidFill>
                <a:latin typeface="Arial"/>
              </a:rPr>
              <a:t>end to end, Python + DuckDB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6692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EB7C2"/>
                </a:solidFill>
                <a:latin typeface="Courier New"/>
              </a:rPr>
              <a:t>python ingestion\extract.py   →   python transform\run.py   →   python reports\run_reports.py</a:t>
            </a:r>
          </a:p>
        </p:txBody>
      </p:sp>
    </p:spTree>
    <p:extLst>
      <p:ext uri="{BB962C8B-B14F-4D97-AF65-F5344CB8AC3E}">
        <p14:creationId xmlns:p14="http://schemas.microsoft.com/office/powerpoint/2010/main" val="1672535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502920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E0A33A"/>
                </a:solidFill>
                <a:latin typeface="Arial"/>
              </a:rPr>
              <a:t>DATA QUALITY FIRST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822960"/>
            <a:ext cx="9418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4F1EA"/>
                </a:solidFill>
                <a:latin typeface="Arial"/>
              </a:rPr>
              <a:t>Seven problems fixed before looking for cheaters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28800"/>
          <a:ext cx="10817352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latin typeface="Arial"/>
                        </a:rPr>
                        <a:t>Check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rial"/>
                        </a:rPr>
                        <a:t>What went wrong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latin typeface="Arial"/>
                        </a:rPr>
                        <a:t>Rows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rial"/>
                        </a:rPr>
                        <a:t>Fix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DQ-1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Same event delivered twice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latin typeface="Arial"/>
                        </a:rPr>
                        <a:t>47,733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Kept one copy per event id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DQ-2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Events lost in delivery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latin typeface="Arial"/>
                        </a:rPr>
                        <a:t>9,615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Listed, so never mistaken for cheats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DQ-3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Shard-04 clock 5 hours off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latin typeface="Arial"/>
                        </a:rPr>
                        <a:t>927,920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Timestamps corrected and flagged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DQ-4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Missing fields, empty bodies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latin typeface="Arial"/>
                        </a:rPr>
                        <a:t>~0.1–1%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Left unknown, recovered if certain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DQ-5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Placeholder and fake IDs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latin typeface="Arial"/>
                        </a:rPr>
                        <a:t>7,495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Treated as unknown, excluded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DQ-6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Corrupted numbers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latin typeface="Arial"/>
                        </a:rPr>
                        <a:t>4,739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Bit-flips repaired, garbage nulled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DQ-7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Level-ups to “level 0”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latin typeface="Arial"/>
                        </a:rPr>
                        <a:t>36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Treated as unknown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0424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502920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E0A33A"/>
                </a:solidFill>
                <a:latin typeface="Arial"/>
              </a:rPr>
              <a:t>DQ-3 · THE HIDDEN TRAP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822960"/>
            <a:ext cx="9418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4F1EA"/>
                </a:solidFill>
                <a:latin typeface="Arial"/>
              </a:rPr>
              <a:t>One server’s clock ran 5 hours behind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4480560" cy="2011680"/>
          </a:xfrm>
          <a:prstGeom prst="roundRect">
            <a:avLst>
              <a:gd name="adj" fmla="val 6000"/>
            </a:avLst>
          </a:prstGeom>
          <a:solidFill>
            <a:srgbClr val="0B1F2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46888" rIns="274320" bIns="246888" rtlCol="0" anchor="t"/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F4F1EA"/>
                </a:solidFill>
                <a:latin typeface="Arial"/>
              </a:rPr>
              <a:t>0.7 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FD6DF"/>
                </a:solidFill>
                <a:latin typeface="Arial"/>
              </a:rPr>
              <a:t>Delay between an event and its receipt, before the 7 Sep restart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394960" y="2743200"/>
            <a:ext cx="822960" cy="411480"/>
          </a:xfrm>
          <a:prstGeom prst="rightArrow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46520" y="1920240"/>
            <a:ext cx="5056632" cy="2011680"/>
          </a:xfrm>
          <a:prstGeom prst="roundRect">
            <a:avLst>
              <a:gd name="adj" fmla="val 6000"/>
            </a:avLst>
          </a:prstGeom>
          <a:solidFill>
            <a:srgbClr val="0B1F2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46888" rIns="274320" bIns="246888" rtlCol="0" anchor="t"/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E0A33A"/>
                </a:solidFill>
                <a:latin typeface="Arial"/>
              </a:rPr>
              <a:t>18,000 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FD6DF"/>
                </a:solidFill>
                <a:latin typeface="Arial"/>
              </a:rPr>
              <a:t>The same delay after it, from message 6,736,768 onwards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343400"/>
            <a:ext cx="1081735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4F1EA"/>
                </a:solidFill>
                <a:latin typeface="Arial"/>
              </a:rPr>
              <a:t>Shard-04 restarted on Chicago time instead of UTC. </a:t>
            </a:r>
            <a:r>
              <a:rPr sz="1600" b="0" i="0">
                <a:solidFill>
                  <a:srgbClr val="CFD6DF"/>
                </a:solidFill>
                <a:latin typeface="Arial"/>
              </a:rPr>
              <a:t>It runs the endgame zones, so every speed and cooldown check there would have been wrong. 927,920 events were moved forward 5 hours; the correction is stored as data and the original timestamp is kept.</a:t>
            </a:r>
          </a:p>
        </p:txBody>
      </p:sp>
    </p:spTree>
    <p:extLst>
      <p:ext uri="{BB962C8B-B14F-4D97-AF65-F5344CB8AC3E}">
        <p14:creationId xmlns:p14="http://schemas.microsoft.com/office/powerpoint/2010/main" val="4194820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502920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E0A33A"/>
                </a:solidFill>
                <a:latin typeface="Arial"/>
              </a:rPr>
              <a:t>DATA MODEL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822960"/>
            <a:ext cx="9418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4F1EA"/>
                </a:solidFill>
                <a:latin typeface="Arial"/>
              </a:rPr>
              <a:t>A star schema behind every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0A33A"/>
                </a:solidFill>
                <a:latin typeface="Arial"/>
              </a:rPr>
              <a:t>10 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51206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FD6DF"/>
                </a:solidFill>
                <a:latin typeface="Arial"/>
              </a:rPr>
              <a:t>sessions · fights per character · creature kills · deaths · XP · loot · gold ledger · transactions · gear · sub-zone 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1752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0A33A"/>
                </a:solidFill>
                <a:latin typeface="Arial"/>
              </a:rPr>
              <a:t>6 DIMENSIONS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37560"/>
            <a:ext cx="51206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FD6DF"/>
                </a:solidFill>
                <a:latin typeface="Arial"/>
              </a:rPr>
              <a:t>date · character · character level over time · zone and sub-zone · item template · creature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06240"/>
            <a:ext cx="51206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4F1EA"/>
                </a:solidFill>
                <a:latin typeface="Arial"/>
              </a:rPr>
              <a:t>Level is tracked over time. </a:t>
            </a:r>
            <a:r>
              <a:rPr sz="1400" b="0" i="0">
                <a:solidFill>
                  <a:srgbClr val="CFD6DF"/>
                </a:solidFill>
                <a:latin typeface="Arial"/>
              </a:rPr>
              <a:t>Peers are the same class and 10-level bracket at the moment of the event, not today.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4F1EA"/>
                </a:solidFill>
                <a:latin typeface="Arial"/>
              </a:rPr>
              <a:t>Gold is a signed ledger. </a:t>
            </a:r>
            <a:r>
              <a:rPr sz="1400" b="0" i="0">
                <a:solidFill>
                  <a:srgbClr val="CFD6DF"/>
                </a:solidFill>
                <a:latin typeface="Arial"/>
              </a:rPr>
              <a:t>Each movement is a source, a sink or a transfer, so gold in vs out is one sum.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4F1EA"/>
                </a:solidFill>
                <a:latin typeface="Arial"/>
              </a:rPr>
              <a:t>Cheaters are excluded from peer groups, </a:t>
            </a:r>
            <a:r>
              <a:rPr sz="1400" b="0" i="0">
                <a:solidFill>
                  <a:srgbClr val="CFD6DF"/>
                </a:solidFill>
                <a:latin typeface="Arial"/>
              </a:rPr>
              <a:t>so percentiles stay fair for honest players.</a:t>
            </a:r>
          </a:p>
        </p:txBody>
      </p:sp>
      <p:pic>
        <p:nvPicPr>
          <p:cNvPr id="9" name="Star schema" descr="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74519"/>
            <a:ext cx="5330952" cy="4145535"/>
          </a:xfrm>
          <a:prstGeom prst="rect">
            <a:avLst/>
          </a:prstGeom>
          <a:ln w="9525">
            <a:solidFill>
              <a:srgbClr val="3E5A6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172200" y="6080760"/>
            <a:ext cx="5330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4F1EA"/>
                </a:solidFill>
                <a:latin typeface="Arial"/>
              </a:rPr>
              <a:t>Grain: </a:t>
            </a:r>
            <a:r>
              <a:rPr sz="1200" b="0" i="0">
                <a:solidFill>
                  <a:srgbClr val="CFD6DF"/>
                </a:solidFill>
                <a:latin typeface="Arial"/>
              </a:rPr>
              <a:t>one row per character per fight. Plus a cheats schema: 13 rules, every violation linked to raw events.</a:t>
            </a:r>
          </a:p>
        </p:txBody>
      </p:sp>
    </p:spTree>
    <p:extLst>
      <p:ext uri="{BB962C8B-B14F-4D97-AF65-F5344CB8AC3E}">
        <p14:creationId xmlns:p14="http://schemas.microsoft.com/office/powerpoint/2010/main" val="1375633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502920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E0A33A"/>
                </a:solidFill>
                <a:latin typeface="Arial"/>
              </a:rPr>
              <a:t>POWER BI · PLAYER REPORTS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822960"/>
            <a:ext cx="9418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4F1EA"/>
                </a:solidFill>
                <a:latin typeface="Arial"/>
              </a:rPr>
              <a:t>About 450 players a day, with weekend peaks near 700</a:t>
            </a:r>
          </a:p>
        </p:txBody>
      </p:sp>
      <p:pic>
        <p:nvPicPr>
          <p:cNvPr id="4" name="Overview KPIs" descr="kp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8595360" cy="1058638"/>
          </a:xfrm>
          <a:prstGeom prst="rect">
            <a:avLst/>
          </a:prstGeom>
          <a:ln w="9525">
            <a:solidFill>
              <a:srgbClr val="3E5A6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85800" y="306324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4F1EA"/>
                </a:solidFill>
                <a:latin typeface="Arial"/>
              </a:rPr>
              <a:t>Daily active players (10 Sep excluded: partial day)</a:t>
            </a:r>
          </a:p>
        </p:txBody>
      </p:sp>
      <p:pic>
        <p:nvPicPr>
          <p:cNvPr id="6" name="Daily active players" descr="dau_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83280"/>
            <a:ext cx="5212080" cy="3011033"/>
          </a:xfrm>
          <a:prstGeom prst="rect">
            <a:avLst/>
          </a:prstGeom>
          <a:ln w="9525">
            <a:solidFill>
              <a:srgbClr val="3E5A6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537960" y="306324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4F1EA"/>
                </a:solidFill>
                <a:latin typeface="Arial"/>
              </a:rPr>
              <a:t>Player deaths by killer category</a:t>
            </a:r>
          </a:p>
        </p:txBody>
      </p:sp>
      <p:pic>
        <p:nvPicPr>
          <p:cNvPr id="8" name="Player deaths" descr="don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383280"/>
            <a:ext cx="4937760" cy="1982880"/>
          </a:xfrm>
          <a:prstGeom prst="rect">
            <a:avLst/>
          </a:prstGeom>
          <a:ln w="9525">
            <a:solidFill>
              <a:srgbClr val="3E5A6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537960" y="5532120"/>
            <a:ext cx="496519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4F1EA"/>
                </a:solidFill>
                <a:latin typeface="Arial"/>
              </a:rPr>
              <a:t>Weekly pattern: </a:t>
            </a:r>
            <a:r>
              <a:rPr sz="1300" b="0" i="0">
                <a:solidFill>
                  <a:srgbClr val="CFD6DF"/>
                </a:solidFill>
                <a:latin typeface="Arial"/>
              </a:rPr>
              <a:t>weekend peaks run about 50% above weekdays.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4F1EA"/>
                </a:solidFill>
                <a:latin typeface="Arial"/>
              </a:rPr>
              <a:t>Deaths: </a:t>
            </a:r>
            <a:r>
              <a:rPr sz="1300" b="0" i="0">
                <a:solidFill>
                  <a:srgbClr val="CFD6DF"/>
                </a:solidFill>
                <a:latin typeface="Arial"/>
              </a:rPr>
              <a:t>85% to other players, 15% to creatures, none to bosses.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502920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E0A33A"/>
                </a:solidFill>
                <a:latin typeface="Arial"/>
              </a:rPr>
              <a:t>CHEAT DETECTION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822960"/>
            <a:ext cx="9418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4F1EA"/>
                </a:solidFill>
                <a:latin typeface="Arial"/>
              </a:rPr>
              <a:t>13 rulebook rules, checked for every player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280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4F1EA"/>
                </a:solidFill>
                <a:latin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7744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FD6DF"/>
                </a:solidFill>
                <a:latin typeface="Arial"/>
              </a:rPr>
              <a:t>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783080"/>
            <a:ext cx="1280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E0A33A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37744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FD6DF"/>
                </a:solidFill>
                <a:latin typeface="Arial"/>
              </a:rPr>
              <a:t>rules broken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783080"/>
            <a:ext cx="1280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E0A33A"/>
                </a:solidFill>
                <a:latin typeface="Arial"/>
              </a:rPr>
              <a:t>322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37744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FD6DF"/>
                </a:solidFill>
                <a:latin typeface="Arial"/>
              </a:rPr>
              <a:t>violations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1280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4F1EA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FD6DF"/>
                </a:solidFill>
                <a:latin typeface="Arial"/>
              </a:rPr>
              <a:t>characters</a:t>
            </a:r>
          </a:p>
        </p:txBody>
      </p:sp>
      <p:pic>
        <p:nvPicPr>
          <p:cNvPr id="12" name="Violations by cheat type" descr="by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26080"/>
            <a:ext cx="5074920" cy="2441101"/>
          </a:xfrm>
          <a:prstGeom prst="rect">
            <a:avLst/>
          </a:prstGeom>
          <a:ln w="9525">
            <a:solidFill>
              <a:srgbClr val="3E5A6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85800" y="5577840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FD6DF"/>
                </a:solidFill>
                <a:latin typeface="Arial"/>
              </a:rPr>
              <a:t>Every violation stores the raw event IDs that prove it. One lost message can fake one signal, so a cheater must break a serious rule or three different rules.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72200" y="1783080"/>
          <a:ext cx="5330952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Rule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Broken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latin typeface="Arial"/>
                        </a:rPr>
                        <a:t>Hits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latin typeface="Arial"/>
                        </a:rPr>
                        <a:t>Players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R01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Burst damage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latin typeface="Arial"/>
                        </a:rPr>
                        <a:t>70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latin typeface="Arial"/>
                        </a:rPr>
                        <a:t>5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R02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Item duplication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latin typeface="Arial"/>
                        </a:rPr>
                        <a:t>3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latin typeface="Arial"/>
                        </a:rPr>
                        <a:t>1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R03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Equip stacking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latin typeface="Arial"/>
                        </a:rPr>
                        <a:t>247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latin typeface="Arial"/>
                        </a:rPr>
                        <a:t>5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R04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Speed hack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latin typeface="Arial"/>
                        </a:rPr>
                        <a:t>1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latin typeface="Arial"/>
                        </a:rPr>
                        <a:t>1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R05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Gear above level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latin typeface="Arial"/>
                        </a:rPr>
                        <a:t>1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latin typeface="Arial"/>
                        </a:rPr>
                        <a:t>1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R06–R13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Damage cap, cooldowns, amulet, soulbound, trades, transport, hubs, XP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latin typeface="Arial"/>
                        </a:rPr>
                        <a:t>0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latin typeface="Arial"/>
                        </a:rPr>
                        <a:t>0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3037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502920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E0A33A"/>
                </a:solidFill>
                <a:latin typeface="Arial"/>
              </a:rPr>
              <a:t>THE CHEATERS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822960"/>
            <a:ext cx="9418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4F1EA"/>
                </a:solidFill>
                <a:latin typeface="Arial"/>
              </a:rPr>
              <a:t>Five accounts, created 12 minutes apart</a:t>
            </a:r>
          </a:p>
        </p:txBody>
      </p:sp>
      <p:pic>
        <p:nvPicPr>
          <p:cNvPr id="4" name="Violations per cheater by type" descr="stac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28800"/>
            <a:ext cx="5394960" cy="2535925"/>
          </a:xfrm>
          <a:prstGeom prst="rect">
            <a:avLst/>
          </a:prstGeom>
          <a:ln w="9525">
            <a:solidFill>
              <a:srgbClr val="3E5A60"/>
            </a:solidFill>
          </a:ln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828800"/>
          <a:ext cx="510235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Account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Character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Class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Created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latin typeface="Arial"/>
                        </a:rPr>
                        <a:t>Violations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acc_1013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chr_1782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Warrior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13 Aug 20:50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latin typeface="Arial"/>
                        </a:rPr>
                        <a:t>48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acc_1015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chr_1784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Mage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13 Aug 20:54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latin typeface="Arial"/>
                        </a:rPr>
                        <a:t>48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acc_1014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chr_1783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Paladin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13 Aug 20:55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latin typeface="Arial"/>
                        </a:rPr>
                        <a:t>48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acc_1016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chr_1785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Rogue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13 Aug 20:56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latin typeface="Arial"/>
                        </a:rPr>
                        <a:t>77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acc_1017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chr_1786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Warlock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13 Aug 21:02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latin typeface="Arial"/>
                        </a:rPr>
                        <a:t>101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800600"/>
            <a:ext cx="1081735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4F1EA"/>
                </a:solidFill>
                <a:latin typeface="Arial"/>
              </a:rPr>
              <a:t>One character per account, </a:t>
            </a:r>
            <a:r>
              <a:rPr sz="1500" b="0" i="0">
                <a:solidFill>
                  <a:srgbClr val="CFD6DF"/>
                </a:solidFill>
                <a:latin typeface="Arial"/>
              </a:rPr>
              <a:t>all Wildbound, always in the same 5-person party.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4F1EA"/>
                </a:solidFill>
                <a:latin typeface="Arial"/>
              </a:rPr>
              <a:t>All five reached level 70 on 22 Aug, </a:t>
            </a:r>
            <a:r>
              <a:rPr sz="1500" b="0" i="0">
                <a:solidFill>
                  <a:srgbClr val="CFD6DF"/>
                </a:solidFill>
                <a:latin typeface="Arial"/>
              </a:rPr>
              <a:t>cheated on 22, 25 and 26 August, then never logged in again.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FD6DF"/>
                </a:solidFill>
                <a:latin typeface="Arial"/>
              </a:rPr>
              <a:t>Only 20% of new characters reach level 70 at all.</a:t>
            </a:r>
          </a:p>
        </p:txBody>
      </p:sp>
    </p:spTree>
    <p:extLst>
      <p:ext uri="{BB962C8B-B14F-4D97-AF65-F5344CB8AC3E}">
        <p14:creationId xmlns:p14="http://schemas.microsoft.com/office/powerpoint/2010/main" val="945745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502920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E0A33A"/>
                </a:solidFill>
                <a:latin typeface="Arial"/>
              </a:rPr>
              <a:t>MAIN EXPLOIT · BURST DAMAGE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822960"/>
            <a:ext cx="9418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4F1EA"/>
                </a:solidFill>
                <a:latin typeface="Arial"/>
              </a:rPr>
              <a:t>20 hits in the same instant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3429000" cy="1965960"/>
          </a:xfrm>
          <a:prstGeom prst="roundRect">
            <a:avLst>
              <a:gd name="adj" fmla="val 6000"/>
            </a:avLst>
          </a:prstGeom>
          <a:solidFill>
            <a:srgbClr val="0B1F2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46888" rIns="274320" bIns="246888" rtlCol="0" anchor="t"/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E0A33A"/>
                </a:solidFill>
                <a:latin typeface="Arial"/>
              </a:rPr>
              <a:t>13 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FD6DF"/>
                </a:solidFill>
                <a:latin typeface="Arial"/>
              </a:rPr>
              <a:t>Their kill of the final boss, Archon Vexmoor, twice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9976" y="1874519"/>
            <a:ext cx="3429000" cy="1965960"/>
          </a:xfrm>
          <a:prstGeom prst="roundRect">
            <a:avLst>
              <a:gd name="adj" fmla="val 6000"/>
            </a:avLst>
          </a:prstGeom>
          <a:solidFill>
            <a:srgbClr val="0B1F2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46888" rIns="274320" bIns="246888" rtlCol="0" anchor="t"/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F4F1EA"/>
                </a:solidFill>
                <a:latin typeface="Arial"/>
              </a:rPr>
              <a:t>176 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FD6DF"/>
                </a:solidFill>
                <a:latin typeface="Arial"/>
              </a:rPr>
              <a:t>The fastest honest kill in 766 attempts (typical: 295 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74152" y="1874519"/>
            <a:ext cx="3429000" cy="1965960"/>
          </a:xfrm>
          <a:prstGeom prst="roundRect">
            <a:avLst>
              <a:gd name="adj" fmla="val 6000"/>
            </a:avLst>
          </a:prstGeom>
          <a:solidFill>
            <a:srgbClr val="0B1F2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46888" rIns="274320" bIns="246888" rtlCol="0" anchor="t"/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E0A33A"/>
                </a:solidFill>
                <a:latin typeface="Arial"/>
              </a:rPr>
              <a:t>18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FD6DF"/>
                </a:solidFill>
                <a:latin typeface="Arial"/>
              </a:rPr>
              <a:t>Players killed with a single burst 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51960"/>
            <a:ext cx="1081735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4F1EA"/>
                </a:solidFill>
                <a:latin typeface="Arial"/>
              </a:rPr>
              <a:t>The rules allow one ability every 1.5 seconds. </a:t>
            </a:r>
            <a:r>
              <a:rPr sz="1600" b="0" i="0">
                <a:solidFill>
                  <a:srgbClr val="CFD6DF"/>
                </a:solidFill>
                <a:latin typeface="Arial"/>
              </a:rPr>
              <a:t>Across 1.3 million damage records, exactly 70 moments have more than one hit at once, always 20, and all 70 belong to these five. One burst is about 11,000 damage; a level-70 character has at most about 4,200 health.</a:t>
            </a:r>
          </a:p>
        </p:txBody>
      </p:sp>
    </p:spTree>
    <p:extLst>
      <p:ext uri="{BB962C8B-B14F-4D97-AF65-F5344CB8AC3E}">
        <p14:creationId xmlns:p14="http://schemas.microsoft.com/office/powerpoint/2010/main" val="120673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502920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E0A33A"/>
                </a:solidFill>
                <a:latin typeface="Arial"/>
              </a:rPr>
              <a:t>SECOND EXPLOIT · ITEM DUPLICATION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822960"/>
            <a:ext cx="9418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4F1EA"/>
                </a:solidFill>
                <a:latin typeface="Arial"/>
              </a:rPr>
              <a:t>One sword, given away four times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28800"/>
          <a:ext cx="1081735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latin typeface="Arial"/>
                        </a:rPr>
                        <a:t>25 Aug (UTC)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rial"/>
                        </a:rPr>
                        <a:t>Event in the Thornhold auction house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21:39:01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chr_1786 buys itm_0113674, a Stormrender Blade, for 5,805 gold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21:39:09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chr_1786 trades it to chr_1782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21:39:24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chr_1786 trades the same sword to chr_1783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21:39:52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chr_1786 trades the same sword to chr_1784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21:40:09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chr_1786 trades the same sword to chr_1785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21:40:54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All five equip it, about 40 times each in seconds (equip stacking)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34924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4F1EA"/>
                </a:solidFill>
                <a:latin typeface="Arial"/>
              </a:rPr>
              <a:t>The only case in 3,563 item trades. </a:t>
            </a:r>
            <a:r>
              <a:rPr sz="1500" b="0" i="0">
                <a:solidFill>
                  <a:srgbClr val="CFD6DF"/>
                </a:solidFill>
                <a:latin typeface="Arial"/>
              </a:rPr>
              <a:t>Both sides of all four trades are recorded, so lost messages cannot explain it.</a:t>
            </a:r>
          </a:p>
        </p:txBody>
      </p:sp>
    </p:spTree>
    <p:extLst>
      <p:ext uri="{BB962C8B-B14F-4D97-AF65-F5344CB8AC3E}">
        <p14:creationId xmlns:p14="http://schemas.microsoft.com/office/powerpoint/2010/main" val="811695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502920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E0A33A"/>
                </a:solidFill>
                <a:latin typeface="Arial"/>
              </a:rPr>
              <a:t>WORST OFFENDER · CHR_1786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822960"/>
            <a:ext cx="9418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4F1EA"/>
                </a:solidFill>
                <a:latin typeface="Arial"/>
              </a:rPr>
              <a:t>Thirteen days from new account to killing spree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83080"/>
          <a:ext cx="1081735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When (UTC)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What happened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13 Aug 21:02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Created; joins the group’s party 11 minutes later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15 Aug 19:03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Equips a level-52 sword at level 32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22 Aug 18:04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Buys gear, equips it 22 times in 6 seconds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22 Aug 18:09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Walks Red Mesa to Ashen Vale in 52 s (minimum 434 s)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22 Aug 18:10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Kills player chr_1118 with one 20-hit burst, teleports home, logs off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25 Aug 21:39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Duplicates a sword to all four teammates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25 Aug 22:03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The five kill Archon Vexmoor in 13 seconds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26 Aug 21:12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Kill him again, 11.5 h after patch 2.1 improved his loot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26 Aug 21:30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Kills 9 players in 17 minutes (chr_1785 kills 8 more)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26 Aug 22:14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Last event; none of the five plays again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0105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502920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E0A33A"/>
                </a:solidFill>
                <a:latin typeface="Arial"/>
              </a:rPr>
              <a:t>RECOMMENDATION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822960"/>
            <a:ext cx="9418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4F1EA"/>
                </a:solidFill>
                <a:latin typeface="Arial"/>
              </a:rPr>
              <a:t>Patch these four mechanics, in this order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276088" cy="1783080"/>
          </a:xfrm>
          <a:prstGeom prst="roundRect">
            <a:avLst>
              <a:gd name="adj" fmla="val 6000"/>
            </a:avLst>
          </a:prstGeom>
          <a:solidFill>
            <a:srgbClr val="0B1F2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30428" rIns="256032" bIns="230428" rtlCol="0" anchor="t"/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E0A33A"/>
                </a:solidFill>
                <a:latin typeface="Arial"/>
              </a:rPr>
              <a:t>1  </a:t>
            </a:r>
            <a:r>
              <a:rPr sz="2000" b="1" i="0">
                <a:solidFill>
                  <a:srgbClr val="F4F1EA"/>
                </a:solidFill>
                <a:latin typeface="Arial"/>
              </a:rPr>
              <a:t>Damage rate limit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6DF"/>
                </a:solidFill>
                <a:latin typeface="Arial"/>
              </a:rPr>
              <a:t>The server limits ability uses, not hits. Enforce one hit per use and the 1.5 s global cooldown on damage itself.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E0A33A"/>
                </a:solidFill>
                <a:latin typeface="Arial"/>
              </a:rPr>
              <a:t>Stops burst damage · 70 violations, 18 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27064" y="1874519"/>
            <a:ext cx="5276088" cy="1783080"/>
          </a:xfrm>
          <a:prstGeom prst="roundRect">
            <a:avLst>
              <a:gd name="adj" fmla="val 6000"/>
            </a:avLst>
          </a:prstGeom>
          <a:solidFill>
            <a:srgbClr val="0B1F2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30428" rIns="256032" bIns="230428" rtlCol="0" anchor="t"/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E0A33A"/>
                </a:solidFill>
                <a:latin typeface="Arial"/>
              </a:rPr>
              <a:t>2  </a:t>
            </a:r>
            <a:r>
              <a:rPr sz="2000" b="1" i="0">
                <a:solidFill>
                  <a:srgbClr val="F4F1EA"/>
                </a:solidFill>
                <a:latin typeface="Arial"/>
              </a:rPr>
              <a:t>Trade ownership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6DF"/>
                </a:solidFill>
                <a:latin typeface="Arial"/>
              </a:rPr>
              <a:t>Check the giver still owns the item and transfer it in one atomic step.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E0A33A"/>
                </a:solidFill>
                <a:latin typeface="Arial"/>
              </a:rPr>
              <a:t>Stops item duplication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922775"/>
            <a:ext cx="5276088" cy="1783080"/>
          </a:xfrm>
          <a:prstGeom prst="roundRect">
            <a:avLst>
              <a:gd name="adj" fmla="val 6000"/>
            </a:avLst>
          </a:prstGeom>
          <a:solidFill>
            <a:srgbClr val="0B1F2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30428" rIns="256032" bIns="230428" rtlCol="0" anchor="t"/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E0A33A"/>
                </a:solidFill>
                <a:latin typeface="Arial"/>
              </a:rPr>
              <a:t>3  </a:t>
            </a:r>
            <a:r>
              <a:rPr sz="2000" b="1" i="0">
                <a:solidFill>
                  <a:srgbClr val="F4F1EA"/>
                </a:solidFill>
                <a:latin typeface="Arial"/>
              </a:rPr>
              <a:t>Equip slots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6DF"/>
                </a:solidFill>
                <a:latin typeface="Arial"/>
              </a:rPr>
              <a:t>Reject an equip into a filled slot unless it is emptied in the same step; rate-limit equips.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E0A33A"/>
                </a:solidFill>
                <a:latin typeface="Arial"/>
              </a:rPr>
              <a:t>Stops equip stacking · 247 violations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7064" y="3922775"/>
            <a:ext cx="5276088" cy="1783080"/>
          </a:xfrm>
          <a:prstGeom prst="roundRect">
            <a:avLst>
              <a:gd name="adj" fmla="val 6000"/>
            </a:avLst>
          </a:prstGeom>
          <a:solidFill>
            <a:srgbClr val="0B1F2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30428" rIns="256032" bIns="230428" rtlCol="0" anchor="t"/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E0A33A"/>
                </a:solidFill>
                <a:latin typeface="Arial"/>
              </a:rPr>
              <a:t>4  </a:t>
            </a:r>
            <a:r>
              <a:rPr sz="2000" b="1" i="0">
                <a:solidFill>
                  <a:srgbClr val="F4F1EA"/>
                </a:solidFill>
                <a:latin typeface="Arial"/>
              </a:rPr>
              <a:t>Movement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6DF"/>
                </a:solidFill>
                <a:latin typeface="Arial"/>
              </a:rPr>
              <a:t>Validate zone transitions on the server against walking speed.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E0A33A"/>
                </a:solidFill>
                <a:latin typeface="Arial"/>
              </a:rPr>
              <a:t>Stops the speed hack</a:t>
            </a:r>
          </a:p>
        </p:txBody>
      </p:sp>
    </p:spTree>
    <p:extLst>
      <p:ext uri="{BB962C8B-B14F-4D97-AF65-F5344CB8AC3E}">
        <p14:creationId xmlns:p14="http://schemas.microsoft.com/office/powerpoint/2010/main" val="12614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502920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E0A33A"/>
                </a:solidFill>
                <a:latin typeface="Arial"/>
              </a:rPr>
              <a:t>GAME ANOMALIES, NOT CHEATING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822960"/>
            <a:ext cx="9418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4F1EA"/>
                </a:solidFill>
                <a:latin typeface="Arial"/>
              </a:rPr>
              <a:t>Three things that look wrong for every player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3429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E0A33A"/>
                </a:solidFill>
                <a:latin typeface="Arial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4F1EA"/>
                </a:solidFill>
                <a:latin typeface="Arial"/>
              </a:rPr>
              <a:t>deaths to bosses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52928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FD6DF"/>
                </a:solidFill>
                <a:latin typeface="Arial"/>
              </a:rPr>
              <a:t>In 8,137 boss fights nobody died, even after taking up to 39 times their maximum health.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9976" y="1783080"/>
            <a:ext cx="3429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E0A33A"/>
                </a:solidFill>
                <a:latin typeface="Arial"/>
              </a:rPr>
              <a:t>99.9%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9976" y="251460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4F1EA"/>
                </a:solidFill>
                <a:latin typeface="Arial"/>
              </a:rPr>
              <a:t>of new gold stays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9976" y="2852928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FD6DF"/>
                </a:solidFill>
                <a:latin typeface="Arial"/>
              </a:rPr>
              <a:t>287.6 M gold entered the economy; only 0.38 M left through the auction cut.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4152" y="1783080"/>
            <a:ext cx="3429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E0A33A"/>
                </a:solidFill>
                <a:latin typeface="Arial"/>
              </a:rPr>
              <a:t>3–4×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251460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4F1EA"/>
                </a:solidFill>
                <a:latin typeface="Arial"/>
              </a:rPr>
              <a:t>creature damage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152" y="2852928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FD6DF"/>
                </a:solidFill>
                <a:latin typeface="Arial"/>
              </a:rPr>
              <a:t>In fights a player loses, creatures deal 3 to 4 times their stated damage.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4048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4F1EA"/>
                </a:solidFill>
                <a:latin typeface="Arial"/>
              </a:rPr>
              <a:t>Player deaths by killer · no boss slice at all</a:t>
            </a:r>
          </a:p>
        </p:txBody>
      </p:sp>
      <p:pic>
        <p:nvPicPr>
          <p:cNvPr id="14" name="Deaths by killer" descr="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60520"/>
            <a:ext cx="4206240" cy="1689120"/>
          </a:xfrm>
          <a:prstGeom prst="rect">
            <a:avLst/>
          </a:prstGeom>
          <a:ln w="9525">
            <a:solidFill>
              <a:srgbClr val="3E5A60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166360" y="384048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4F1EA"/>
                </a:solidFill>
                <a:latin typeface="Arial"/>
              </a:rPr>
              <a:t>Gold created vs destroyed per day</a:t>
            </a:r>
          </a:p>
        </p:txBody>
      </p:sp>
      <p:pic>
        <p:nvPicPr>
          <p:cNvPr id="16" name="Gold created vs destroyed" descr="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4160520"/>
            <a:ext cx="2514600" cy="2214562"/>
          </a:xfrm>
          <a:prstGeom prst="rect">
            <a:avLst/>
          </a:prstGeom>
          <a:ln w="9525">
            <a:solidFill>
              <a:srgbClr val="3E5A60"/>
            </a:solidFill>
          </a:ln>
        </p:spPr>
      </p:pic>
      <p:sp>
        <p:nvSpPr>
          <p:cNvPr id="17" name="Rounded Rectangle 16"/>
          <p:cNvSpPr/>
          <p:nvPr/>
        </p:nvSpPr>
        <p:spPr>
          <a:xfrm>
            <a:off x="7955279" y="3840480"/>
            <a:ext cx="3547872" cy="2514600"/>
          </a:xfrm>
          <a:prstGeom prst="roundRect">
            <a:avLst>
              <a:gd name="adj" fmla="val 6000"/>
            </a:avLst>
          </a:prstGeom>
          <a:solidFill>
            <a:srgbClr val="0B1F2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5740" rIns="228600" bIns="205740" rtlCol="0" anchor="t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0A33A"/>
                </a:solidFill>
                <a:latin typeface="Arial"/>
              </a:rPr>
              <a:t>Also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FD6DF"/>
                </a:solidFill>
                <a:latin typeface="Arial"/>
              </a:rPr>
              <a:t>Weekends bring about 50% more players, and ferry use fell about 90% once the 6-second Waygate arrived in 2.1.</a:t>
            </a:r>
          </a:p>
        </p:txBody>
      </p:sp>
    </p:spTree>
    <p:extLst>
      <p:ext uri="{BB962C8B-B14F-4D97-AF65-F5344CB8AC3E}">
        <p14:creationId xmlns:p14="http://schemas.microsoft.com/office/powerpoint/2010/main" val="2152358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502920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E0A33A"/>
                </a:solidFill>
                <a:latin typeface="Arial"/>
              </a:rPr>
              <a:t>LIVE DEMO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822960"/>
            <a:ext cx="9418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4F1EA"/>
                </a:solidFill>
                <a:latin typeface="Arial"/>
              </a:rPr>
              <a:t>From snapshot to reports in three commands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0A131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88036" rIns="320040" bIns="288036" rtlCol="0" anchor="ctr"/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E0A33A"/>
                </a:solidFill>
                <a:latin typeface="Courier New"/>
              </a:rPr>
              <a:t>python ingestion\extract.py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E0A33A"/>
                </a:solidFill>
                <a:latin typeface="Courier New"/>
              </a:rPr>
              <a:t>python transform\run.py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E0A33A"/>
                </a:solidFill>
                <a:latin typeface="Courier New"/>
              </a:rPr>
              <a:t>python reports\run_reports.py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977639"/>
            <a:ext cx="5120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AEB7C2"/>
                </a:solidFill>
                <a:latin typeface="Arial"/>
              </a:rPr>
              <a:t>About 15 minutes end to end, so the demo starts from the finished warehouse and reruns the reports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874519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0A33A"/>
                </a:solidFill>
                <a:latin typeface="Arial"/>
              </a:rPr>
              <a:t>WHAT I WILL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286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E0A33A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3317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CFD6DF"/>
                </a:solidFill>
                <a:latin typeface="Arial"/>
              </a:rPr>
              <a:t>Rule results: 13 rules, 5 broken, 8 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9077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E0A33A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953512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CFD6DF"/>
                </a:solidFill>
                <a:latin typeface="Arial"/>
              </a:rPr>
              <a:t>The five cheaters and their violations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5295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E0A33A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575304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CFD6DF"/>
                </a:solidFill>
                <a:latin typeface="Arial"/>
              </a:rPr>
              <a:t>Lineage: violation 23 traced to the raw delivery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1513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E0A33A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4197096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CFD6DF"/>
                </a:solidFill>
                <a:latin typeface="Arial"/>
              </a:rPr>
              <a:t>Player 360 and the peer-percentile sentence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7731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E0A33A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818888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CFD6DF"/>
                </a:solidFill>
                <a:latin typeface="Arial"/>
              </a:rPr>
              <a:t>Gold flow and the boss-deaths anomaly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39495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E0A33A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5440679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CFD6DF"/>
                </a:solidFill>
                <a:latin typeface="Arial"/>
              </a:rPr>
              <a:t>Power BI: Overview, Cheaters and Economy pages</a:t>
            </a:r>
          </a:p>
        </p:txBody>
      </p:sp>
    </p:spTree>
    <p:extLst>
      <p:ext uri="{BB962C8B-B14F-4D97-AF65-F5344CB8AC3E}">
        <p14:creationId xmlns:p14="http://schemas.microsoft.com/office/powerpoint/2010/main" val="2350451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502920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E0A33A"/>
                </a:solidFill>
                <a:latin typeface="Arial"/>
              </a:rPr>
              <a:t>PRODUCTION ON AWS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822960"/>
            <a:ext cx="9418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4F1EA"/>
                </a:solidFill>
                <a:latin typeface="Arial"/>
              </a:rPr>
              <a:t>Every local piece has a managed equivalent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28800"/>
          <a:ext cx="10817352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1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latin typeface="Arial"/>
                        </a:rPr>
                        <a:t>Local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rial"/>
                        </a:rPr>
                        <a:t>AWS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latin typeface="Arial"/>
                        </a:rPr>
                        <a:t>Postgres snapshot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Kinesis Data Streams for events, RDS for game state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latin typeface="Arial"/>
                        </a:rPr>
                        <a:t>extract.py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Data Firehose and DMS, landing Parquet in S3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latin typeface="Arial"/>
                        </a:rPr>
                        <a:t>DuckDB warehouse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S3 with Apache Iceberg tables, queried by Athena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latin typeface="Arial"/>
                        </a:rPr>
                        <a:t>SQL models + run.py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dbt on Athena, scheduled by Amazon MWAA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latin typeface="Arial"/>
                        </a:rPr>
                        <a:t>Cheat rules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Same SQL in batch; Flink for burst damage in seconds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latin typeface="Arial"/>
                        </a:rPr>
                        <a:t>Report queries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Athena views behind QuickSight or Power BI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44068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4F1EA"/>
                </a:solidFill>
                <a:latin typeface="Arial"/>
              </a:rPr>
              <a:t>Changes for production: </a:t>
            </a:r>
            <a:r>
              <a:rPr sz="1500" b="0" i="0">
                <a:solidFill>
                  <a:srgbClr val="CFD6DF"/>
                </a:solidFill>
                <a:latin typeface="Arial"/>
              </a:rPr>
              <a:t>incremental loads, automated clock-skew and lost-event alarms, and alerts on new high-severity violations.</a:t>
            </a:r>
          </a:p>
        </p:txBody>
      </p:sp>
    </p:spTree>
    <p:extLst>
      <p:ext uri="{BB962C8B-B14F-4D97-AF65-F5344CB8AC3E}">
        <p14:creationId xmlns:p14="http://schemas.microsoft.com/office/powerpoint/2010/main" val="2910997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502920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E0A33A"/>
                </a:solidFill>
                <a:latin typeface="Arial"/>
              </a:rPr>
              <a:t>IN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822960"/>
            <a:ext cx="9418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4F1EA"/>
                </a:solidFill>
                <a:latin typeface="Arial"/>
              </a:rPr>
              <a:t>Proven data, caught cheaters, a platform that reruns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0B1F2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46888" rIns="274320" bIns="246888" rtlCol="0" anchor="t"/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E0A33A"/>
                </a:solidFill>
                <a:latin typeface="Arial"/>
              </a:rPr>
              <a:t>Data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CFD6DF"/>
                </a:solidFill>
                <a:latin typeface="Arial"/>
              </a:rPr>
              <a:t>7 problems proven, fixed and measured before any accusation.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9976" y="192024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0B1F2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46888" rIns="274320" bIns="246888" rtlCol="0" anchor="t"/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E0A33A"/>
                </a:solidFill>
                <a:latin typeface="Arial"/>
              </a:rPr>
              <a:t>Cheaters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CFD6DF"/>
                </a:solidFill>
                <a:latin typeface="Arial"/>
              </a:rPr>
              <a:t>5 coordinated accounts, 5 exploits, every finding traced to source.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74152" y="192024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0B1F2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46888" rIns="274320" bIns="246888" rtlCol="0" anchor="t"/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E0A33A"/>
                </a:solidFill>
                <a:latin typeface="Arial"/>
              </a:rPr>
              <a:t>Platform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CFD6DF"/>
                </a:solidFill>
                <a:latin typeface="Arial"/>
              </a:rPr>
              <a:t>Star schema, 15 report queries and a Power BI report, rebuilt from scratch in ~15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3434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4F1EA"/>
                </a:solidFill>
                <a:latin typeface="Arial"/>
              </a:rP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074920"/>
            <a:ext cx="108173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E0A33A"/>
                </a:solidFill>
                <a:latin typeface="Arial"/>
              </a:rPr>
              <a:t>github.com/Danny2056/eternal-realms-solution</a:t>
            </a:r>
          </a:p>
        </p:txBody>
      </p:sp>
    </p:spTree>
    <p:extLst>
      <p:ext uri="{BB962C8B-B14F-4D97-AF65-F5344CB8AC3E}">
        <p14:creationId xmlns:p14="http://schemas.microsoft.com/office/powerpoint/2010/main" val="38865851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1c45e27-3b79-46c8-820c-58b907e66e7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BA96A5A18E8E45ACB936BC711C9B69" ma:contentTypeVersion="12" ma:contentTypeDescription="Create a new document." ma:contentTypeScope="" ma:versionID="1498b8cd8e03b4676b4f73a8a8c538a6">
  <xsd:schema xmlns:xsd="http://www.w3.org/2001/XMLSchema" xmlns:xs="http://www.w3.org/2001/XMLSchema" xmlns:p="http://schemas.microsoft.com/office/2006/metadata/properties" xmlns:ns3="d1c45e27-3b79-46c8-820c-58b907e66e7d" targetNamespace="http://schemas.microsoft.com/office/2006/metadata/properties" ma:root="true" ma:fieldsID="8fe03bafb67c52c6b9fafdd75254a450" ns3:_="">
    <xsd:import namespace="d1c45e27-3b79-46c8-820c-58b907e66e7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c45e27-3b79-46c8-820c-58b907e66e7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FC4010-35F6-4CF9-95E3-D7231F891A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BF4D473-5A9F-4CC7-BD51-6EC2223E8EED}">
  <ds:schemaRefs>
    <ds:schemaRef ds:uri="d1c45e27-3b79-46c8-820c-58b907e66e7d"/>
    <ds:schemaRef ds:uri="http://purl.org/dc/dcmitype/"/>
    <ds:schemaRef ds:uri="http://schemas.microsoft.com/office/2006/metadata/properties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BECF2125-9A9C-477C-9771-8D5E811042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c45e27-3b79-46c8-820c-58b907e66e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2584</TotalTime>
  <Words>2532</Words>
  <Application>Microsoft Office PowerPoint</Application>
  <PresentationFormat>Widescreen</PresentationFormat>
  <Paragraphs>333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 Serif</vt:lpstr>
      <vt:lpstr>Arial</vt:lpstr>
      <vt:lpstr>Century Gothic</vt:lpstr>
      <vt:lpstr>Courier New</vt:lpstr>
      <vt:lpstr>Wingdings 3</vt:lpstr>
      <vt:lpstr>Ion</vt:lpstr>
      <vt:lpstr>ETERNAL REALMS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Eternal Realms: Cheat Investigation</dc:title>
  <dc:subject/>
  <dc:creator>danny chidi</dc:creator>
  <cp:lastModifiedBy>Chidera Daniel Chidi</cp:lastModifiedBy>
  <cp:revision>4</cp:revision>
  <dcterms:created xsi:type="dcterms:W3CDTF">2026-10-02T07:37:03Z</dcterms:created>
  <dcterms:modified xsi:type="dcterms:W3CDTF">2026-10-06T18:50:45Z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0x01010073BA96A5A18E8E45ACB936BC711C9B69</vt:lpwstr>
  </property>
</Properties>
</file>